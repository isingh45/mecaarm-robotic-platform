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embeddedFontLs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818ADB-91DB-4E66-96B1-6F9385A205FA}">
  <a:tblStyle styleId="{78818ADB-91DB-4E66-96B1-6F9385A205F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f77884ed2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f77884ed2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df77884ed2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F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1828800"/>
            <a:ext cx="164592" cy="1097280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68680" y="169164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Arial Black"/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Me</a:t>
            </a:r>
            <a:r>
              <a:rPr b="1" lang="en-US" sz="8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b="1" i="0" lang="en-US" sz="8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aArm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68680" y="29260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STM32-based omnidirectional mobile manipulator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68680" y="3520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Omnidirectional Mecanum drive • 5-DOF arm • Custom 4-layer PCB • STM32 + Bluetooth control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68680" y="4297680"/>
            <a:ext cx="10424160" cy="1280160"/>
          </a:xfrm>
          <a:prstGeom prst="rect">
            <a:avLst/>
          </a:prstGeom>
          <a:solidFill>
            <a:srgbClr val="1B2B4B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005840" y="4434840"/>
            <a:ext cx="10149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Sukhpinder Singh   •   Inderpal Singh   •   Feranmi Falodun   •   Pierreline Jacob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005840" y="484632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CMPE 493 — Senior Design Capstone  •  Spring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05840" y="516636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California State University, East Bay  •  Department of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Why build a custom robotics control platform?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72288" y="2103120"/>
            <a:ext cx="3566160" cy="237744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72288" y="2103120"/>
            <a:ext cx="3566160" cy="109728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55168" y="2377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5400"/>
              <a:buFont typeface="Arial Black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Low-level hardware access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55175" y="3291858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Vendor robotics controllers often hide low-level access to PWM timers, encoder interfaces, and real-time control loops behind proprietary firmware.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12768" y="2103120"/>
            <a:ext cx="3566160" cy="237744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312768" y="2103120"/>
            <a:ext cx="3566160" cy="109728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95648" y="2377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5400"/>
              <a:buFont typeface="Arial Black"/>
              <a:buNone/>
            </a:pPr>
            <a:r>
              <a:rPr b="1" lang="en-US" sz="24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Custom embedded control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95650" y="3291858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custom STM32-based PCB enables direct integration of motors, servos, sensors, power management, and communication interfaces.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153248" y="2103120"/>
            <a:ext cx="3566160" cy="237744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153248" y="2103120"/>
            <a:ext cx="3566160" cy="109728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336128" y="2377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5400"/>
              <a:buFont typeface="Arial Black"/>
              <a:buNone/>
            </a:pPr>
            <a:r>
              <a:rPr b="1" lang="en-US" sz="24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Full-system integration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336125" y="3291857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project combines embedded firmware, PCB layout, power integrity, motor control, and robotic actuation into a single platform.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4754880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MecaArm replaces vendor electronics with a custom STM32-based control board that enables direct access to embedded control, hardware interfaces, and full-system integration.</a:t>
            </a:r>
            <a:endParaRPr b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Opportunity  •  2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51" y="640075"/>
            <a:ext cx="1157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MecaArm — a custom STM32-based mobile manipulator platform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143000" y="1920240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Omnidirectional locomotion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43000" y="2286000"/>
            <a:ext cx="5989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Four Mecanum wheels driven by TB6612FNG dual H-bridge drivers enable X/Y translation and in-place rotation.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143000" y="2971800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5-DOF articulated arm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143000" y="3337560"/>
            <a:ext cx="5989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High-torque servos powered directly from the 7.4 V rail drive the base, shoulder, and elbow joints, while smaller 5 V servos control the wrist and gripper.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48640" y="4069080"/>
            <a:ext cx="411480" cy="41148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48640" y="4069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143000" y="4023360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Custom 4-layer STM32 PCB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143000" y="4389120"/>
            <a:ext cx="5989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custom STM32F429VET6 control board provides direct access to timers, PWM, I²C, UART, and embedded hardware interfaces.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48640" y="5120640"/>
            <a:ext cx="411480" cy="41148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48640" y="51206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143000" y="5074920"/>
            <a:ext cx="5989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Wireless mobile-app control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143000" y="5440680"/>
            <a:ext cx="5989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Bluetooth SPP communication enables wireless control of locomotion and arm actuation through a MIT App Inventor mobile app.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498080" y="1828800"/>
            <a:ext cx="4206240" cy="393192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7498080" y="1828800"/>
            <a:ext cx="4206240" cy="5486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7680960" y="18745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at a glance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726680" y="26060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Microcontroller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9601200" y="26060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STM32F429VET6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726680" y="30175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Power rails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9601200" y="30175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7.4 V / 5 V / 5 V / 3.3 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726680" y="3429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Drive motors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9601200" y="34290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× DC + encoders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726680" y="38404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Arm joints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9601200" y="38404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servos (PWM)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726680" y="42519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9601200" y="42519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Bluetooth SPP (UART)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726680" y="46634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601200" y="46634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LSM6DSR IMU interface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726680" y="50749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Approx.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9601200" y="50749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USD 213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Solution  •  3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MARKET &amp; USE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35000" y="640075"/>
            <a:ext cx="11386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Potential applications for custom mobile manipulation platforms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48640" y="1920240"/>
            <a:ext cx="3657600" cy="141732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548640" y="1920240"/>
            <a:ext cx="109728" cy="141732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22960" y="20574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Light logistics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22960" y="242316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Potential platform for flexible material transport and mobile manipulation workflows.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389120" y="1920240"/>
            <a:ext cx="3657600" cy="141732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389120" y="1920240"/>
            <a:ext cx="109728" cy="141732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663440" y="20574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Lab automation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663440" y="242316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Potential mobile manipulation platform for configurable laboratory workflows.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229600" y="1920240"/>
            <a:ext cx="3657600" cy="141732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229600" y="1920240"/>
            <a:ext cx="109728" cy="141732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8503920" y="20574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Retail / inventory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503920" y="242316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Potential future expansion for inventory transport and assisted restocking tasks in indoor environments.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" y="3520440"/>
            <a:ext cx="3657600" cy="141732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48640" y="3520440"/>
            <a:ext cx="109728" cy="141732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822960" y="3657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Education &amp; research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22960" y="402336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 hardware/firmware platform for teaching control, embedded systems, and robotics — no vendor lock-in.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389120" y="3520440"/>
            <a:ext cx="3657600" cy="141732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389120" y="3520440"/>
            <a:ext cx="109728" cy="141732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663440" y="3657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Inspection &amp; light maintenance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663440" y="402336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Potential platform for mobile reach and programmable arm interaction in constrained environments.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8229600" y="3520440"/>
            <a:ext cx="3657600" cy="141732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8229600" y="3520440"/>
            <a:ext cx="109728" cy="141732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8503920" y="3657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Hospitality &amp; elder care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503920" y="402336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Compact omnidirectional mobility could support assisted transport tasks in indoor environments.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Market &amp; Use Cases  •  4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Centralized STM32-based system architecture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029188" y="2971823"/>
            <a:ext cx="2286000" cy="1280100"/>
          </a:xfrm>
          <a:prstGeom prst="rect">
            <a:avLst/>
          </a:prstGeom>
          <a:solidFill>
            <a:srgbClr val="0E1F3D"/>
          </a:solidFill>
          <a:ln cap="flat" cmpd="sng" w="254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029188" y="3108982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STM32F429VET6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029188" y="3474743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F5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F5F9"/>
                </a:solidFill>
                <a:latin typeface="Calibri"/>
                <a:ea typeface="Calibri"/>
                <a:cs typeface="Calibri"/>
                <a:sym typeface="Calibri"/>
              </a:rPr>
              <a:t>180 MHz Cortex-M4F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029188" y="3749063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5B700"/>
                </a:solidFill>
                <a:latin typeface="Calibri"/>
                <a:ea typeface="Calibri"/>
                <a:cs typeface="Calibri"/>
                <a:sym typeface="Calibri"/>
              </a:rPr>
              <a:t>Custom 4-layer PCB</a:t>
            </a:r>
            <a:endParaRPr i="1" sz="1100">
              <a:solidFill>
                <a:srgbClr val="F5B7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5B700"/>
                </a:solidFill>
                <a:latin typeface="Calibri"/>
                <a:ea typeface="Calibri"/>
                <a:cs typeface="Calibri"/>
                <a:sym typeface="Calibri"/>
              </a:rPr>
              <a:t>All real-time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0080" y="1920240"/>
            <a:ext cx="2286000" cy="100584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640080" y="1920240"/>
            <a:ext cx="2286000" cy="914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77240" y="20848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2S LiPo  7.4 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77240" y="24231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Primary power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0080" y="3108960"/>
            <a:ext cx="2286000" cy="100584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40080" y="3108960"/>
            <a:ext cx="2286000" cy="914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77240" y="32735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RT7258 ×3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77240" y="36118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 V motor rail • 5 V auxiliary rail • 3.3 V logic 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40080" y="4297680"/>
            <a:ext cx="2286000" cy="100584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40080" y="4297680"/>
            <a:ext cx="2286000" cy="914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77240" y="44622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TB6612FNG ×2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77240" y="48006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 DC motors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9235440" y="1920240"/>
            <a:ext cx="2286000" cy="100584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9235440" y="1920240"/>
            <a:ext cx="2286000" cy="914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9372600" y="20848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5 Servos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372600" y="24231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Base • shoulder • elbow • wrist • gripper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235440" y="3108960"/>
            <a:ext cx="2286000" cy="100584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9235440" y="3108960"/>
            <a:ext cx="2286000" cy="914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9372600" y="327355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ESP32-WROOM-32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9372600" y="36118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Bluetooth-to-UART bridge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9235440" y="4297680"/>
            <a:ext cx="2286000" cy="100584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9235440" y="4297680"/>
            <a:ext cx="2286000" cy="914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9372600" y="44622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LSM6DSR IMU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372600" y="48006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I²C sensor interface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7"/>
          <p:cNvCxnSpPr>
            <a:endCxn id="142" idx="1"/>
          </p:cNvCxnSpPr>
          <p:nvPr/>
        </p:nvCxnSpPr>
        <p:spPr>
          <a:xfrm>
            <a:off x="2926188" y="2423033"/>
            <a:ext cx="2103000" cy="868800"/>
          </a:xfrm>
          <a:prstGeom prst="straightConnector1">
            <a:avLst/>
          </a:prstGeom>
          <a:noFill/>
          <a:ln cap="flat" cmpd="sng" w="19050">
            <a:solidFill>
              <a:srgbClr val="0E7C9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7"/>
          <p:cNvCxnSpPr/>
          <p:nvPr/>
        </p:nvCxnSpPr>
        <p:spPr>
          <a:xfrm>
            <a:off x="2926080" y="3611880"/>
            <a:ext cx="2103120" cy="0"/>
          </a:xfrm>
          <a:prstGeom prst="straightConnector1">
            <a:avLst/>
          </a:prstGeom>
          <a:noFill/>
          <a:ln cap="flat" cmpd="sng" w="19050">
            <a:solidFill>
              <a:srgbClr val="0E7C9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7"/>
          <p:cNvCxnSpPr>
            <a:endCxn id="144" idx="1"/>
          </p:cNvCxnSpPr>
          <p:nvPr/>
        </p:nvCxnSpPr>
        <p:spPr>
          <a:xfrm flipH="1" rot="10800000">
            <a:off x="2926188" y="3886163"/>
            <a:ext cx="2103000" cy="914400"/>
          </a:xfrm>
          <a:prstGeom prst="straightConnector1">
            <a:avLst/>
          </a:prstGeom>
          <a:noFill/>
          <a:ln cap="flat" cmpd="sng" w="19050">
            <a:solidFill>
              <a:srgbClr val="0E7C9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" name="Google Shape;172;p7"/>
          <p:cNvCxnSpPr>
            <a:stCxn id="142" idx="3"/>
          </p:cNvCxnSpPr>
          <p:nvPr/>
        </p:nvCxnSpPr>
        <p:spPr>
          <a:xfrm flipH="1" rot="10800000">
            <a:off x="7315188" y="2412232"/>
            <a:ext cx="1920300" cy="879600"/>
          </a:xfrm>
          <a:prstGeom prst="straightConnector1">
            <a:avLst/>
          </a:prstGeom>
          <a:noFill/>
          <a:ln cap="flat" cmpd="sng" w="19050">
            <a:solidFill>
              <a:srgbClr val="0E7C95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73" name="Google Shape;173;p7"/>
          <p:cNvCxnSpPr/>
          <p:nvPr/>
        </p:nvCxnSpPr>
        <p:spPr>
          <a:xfrm>
            <a:off x="7315200" y="3611880"/>
            <a:ext cx="1920240" cy="0"/>
          </a:xfrm>
          <a:prstGeom prst="straightConnector1">
            <a:avLst/>
          </a:prstGeom>
          <a:noFill/>
          <a:ln cap="flat" cmpd="sng" w="19050">
            <a:solidFill>
              <a:srgbClr val="0E7C95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74" name="Google Shape;174;p7"/>
          <p:cNvCxnSpPr>
            <a:stCxn id="144" idx="3"/>
          </p:cNvCxnSpPr>
          <p:nvPr/>
        </p:nvCxnSpPr>
        <p:spPr>
          <a:xfrm>
            <a:off x="7315188" y="3886163"/>
            <a:ext cx="1974600" cy="925200"/>
          </a:xfrm>
          <a:prstGeom prst="straightConnector1">
            <a:avLst/>
          </a:prstGeom>
          <a:noFill/>
          <a:ln cap="flat" cmpd="sng" w="19050">
            <a:solidFill>
              <a:srgbClr val="0E7C95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75" name="Google Shape;175;p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System Architecture  •  5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CUSTOM 4-LAYER PCB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48650" y="640075"/>
            <a:ext cx="10972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Designed, fabricated, and debugged in a single PCB revision.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 flipH="1" rot="10800000">
            <a:off x="244350" y="1590382"/>
            <a:ext cx="731400" cy="42900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548640" y="1874520"/>
            <a:ext cx="5303520" cy="411480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48640" y="1874520"/>
            <a:ext cx="5303520" cy="50292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731520" y="19202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Board specs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822960" y="260604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Dimensions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377440" y="26060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≈ 95 × 110 mm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22960" y="31546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Stackup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377440" y="31546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layers — signal / GND / PWR / signal, 1.6 mm FR-4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822960" y="37033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Power tree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377440" y="37033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7.4 V battery → dual 5 V rails → dedicated 3.3 V logic rail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22960" y="42519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Decoupling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377440" y="42519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nF + 10 µF per VDD; 10 kΩ + 100 nF on RESET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822960" y="48006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Programming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377440" y="48006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SWD / JTAG via 0.1" header (ST-Link V3)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822960" y="534924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High-current zone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377440" y="534924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Localized along the bottom edge to isolate noise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126480" y="1874520"/>
            <a:ext cx="5486400" cy="411480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126480" y="1874520"/>
            <a:ext cx="5486400" cy="502920"/>
          </a:xfrm>
          <a:prstGeom prst="rect">
            <a:avLst/>
          </a:prstGeom>
          <a:solidFill>
            <a:srgbClr val="0E7C95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309360" y="19202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Issues found → mitigated without respin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355080" y="2670048"/>
            <a:ext cx="274320" cy="274320"/>
          </a:xfrm>
          <a:prstGeom prst="ellipse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355080" y="2651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E1F3D"/>
                </a:solidFill>
                <a:latin typeface="Arial Black"/>
                <a:ea typeface="Arial Black"/>
                <a:cs typeface="Arial Black"/>
                <a:sym typeface="Arial Black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766560" y="260604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UART TX/RX swap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766560" y="28803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Manual rework on bridge connection.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355080" y="3310128"/>
            <a:ext cx="274320" cy="274320"/>
          </a:xfrm>
          <a:prstGeom prst="ellipse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355080" y="32918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E1F3D"/>
                </a:solidFill>
                <a:latin typeface="Arial Black"/>
                <a:ea typeface="Arial Black"/>
                <a:cs typeface="Arial Black"/>
                <a:sym typeface="Arial Black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766560" y="32461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Servo-rail droop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766560" y="35204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Added bulk + local decoupling capacitors.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355080" y="3950208"/>
            <a:ext cx="274320" cy="274320"/>
          </a:xfrm>
          <a:prstGeom prst="ellipse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355080" y="3931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E1F3D"/>
                </a:solidFill>
                <a:latin typeface="Arial Black"/>
                <a:ea typeface="Arial Black"/>
                <a:cs typeface="Arial Black"/>
                <a:sym typeface="Arial Black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766560" y="38862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Undersized motor traces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766560" y="416052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Reinforced during hardware bring-up validation.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355080" y="4590288"/>
            <a:ext cx="274320" cy="274320"/>
          </a:xfrm>
          <a:prstGeom prst="ellipse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355080" y="4572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E1F3D"/>
                </a:solidFill>
                <a:latin typeface="Arial Black"/>
                <a:ea typeface="Arial Black"/>
                <a:cs typeface="Arial Black"/>
                <a:sym typeface="Arial Black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766560" y="452628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RT7258 thermal pad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766560" y="48006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Documented for v2 layout improvements.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355080" y="5230368"/>
            <a:ext cx="274320" cy="274320"/>
          </a:xfrm>
          <a:prstGeom prst="ellipse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6355080" y="52120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0E1F3D"/>
                </a:solidFill>
                <a:latin typeface="Arial Black"/>
                <a:ea typeface="Arial Black"/>
                <a:cs typeface="Arial Black"/>
                <a:sym typeface="Arial Black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766560" y="51663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Noise into signal lines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766560" y="54406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Re-routed; better separation from switching paths.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Custom PCB  •  6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/>
          <p:nvPr/>
        </p:nvSpPr>
        <p:spPr>
          <a:xfrm>
            <a:off x="0" y="0"/>
            <a:ext cx="12191700" cy="16470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48640" y="320040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CUSTOM 4-LAYER PCB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48650" y="640075"/>
            <a:ext cx="10972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Custom PCB layout and hardware implementation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 flipH="1" rot="10800000">
            <a:off x="244350" y="1590382"/>
            <a:ext cx="731400" cy="42900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0" y="6537960"/>
            <a:ext cx="12191700" cy="32010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65760" y="6547104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8168335" y="6547104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Custom PCB  •  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7950" y="1417375"/>
            <a:ext cx="5450387" cy="481578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 txBox="1"/>
          <p:nvPr/>
        </p:nvSpPr>
        <p:spPr>
          <a:xfrm>
            <a:off x="8451000" y="1336500"/>
            <a:ext cx="3199500" cy="4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STM32-centered 4-layer PCB architecture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Isolated power and logic routing regions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Integrated motor drivers, wireless bridge, and sensor interfaces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FIRMWARE &amp;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Real-time embedded control on bare-metal STM32.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548640" y="1828800"/>
            <a:ext cx="36576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731520" y="18745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 + STM32 HAL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731520" y="23774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Generated with STM32CubeMX. Polling-based main loop, non-blocking UART input.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389120" y="1828800"/>
            <a:ext cx="36576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4389120" y="1828800"/>
            <a:ext cx="3657600" cy="45720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4572000" y="18745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Hardware-timer PWM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572000" y="23774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servo and motor PWM driven by hardware timers for stable timing independent of main-loop execution.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8229600" y="1828800"/>
            <a:ext cx="36576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8229600" y="1828800"/>
            <a:ext cx="3657600" cy="45720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8412480" y="18745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Mecanum kinematics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8412480" y="23774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STM32 computes directional wheel-speed mapping for omnidirectional mecanum drive control.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48640" y="3429000"/>
            <a:ext cx="36576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548640" y="3429000"/>
            <a:ext cx="3657600" cy="45720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731520" y="34747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Velocity normalization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731520" y="39776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Motor command scaling used to maintain stable directional movement during combined drive commands.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389120" y="3429000"/>
            <a:ext cx="36576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4389120" y="3429000"/>
            <a:ext cx="3657600" cy="45720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572000" y="34747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Safe-state machine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572000" y="39776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Communication faults or invalid commands trigger motor disable and visual/audible fault indication.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8229600" y="3429000"/>
            <a:ext cx="36576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8229600" y="3429000"/>
            <a:ext cx="3657600" cy="45720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8412480" y="34747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ESP32 = bridge only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8412480" y="39776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ESP32 used only as a Bluetooth-to-UART communication bridge.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48640" y="51206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600"/>
              <a:buFont typeface="Calibri"/>
              <a:buNone/>
            </a:pPr>
            <a:r>
              <a:rPr b="1" i="1" lang="en-US" sz="1600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Hardware timers + non-blocking I/O support stable embedded control behavior.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Firmware &amp; Control  •  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SENSING &amp; WIRELESS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Wireless control and onboard sensing.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548640" y="1828800"/>
            <a:ext cx="5669280" cy="429768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548640" y="1828800"/>
            <a:ext cx="5669280" cy="50292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731520" y="18745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Wireless control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777240" y="2560320"/>
            <a:ext cx="52120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777240" y="2560320"/>
            <a:ext cx="91440" cy="5486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1005840" y="2606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MIT App Inventor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3383280" y="26060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Operator UI on Android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777240" y="3246120"/>
            <a:ext cx="52120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777240" y="3246120"/>
            <a:ext cx="91440" cy="5486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1005840" y="32918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Bluetooth SPP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3383280" y="32918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Transparent UART 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777240" y="3931920"/>
            <a:ext cx="52120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777240" y="3931920"/>
            <a:ext cx="91440" cy="5486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1005840" y="39776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ESP32-WROOM-32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3383280" y="39776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BT-to-UART bridge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777240" y="4617720"/>
            <a:ext cx="52120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777240" y="4617720"/>
            <a:ext cx="91440" cy="5486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1005840" y="4663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STM32F429VET6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3383280" y="46634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Parses, controls, actuates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777240" y="5303520"/>
            <a:ext cx="52120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777240" y="5303520"/>
            <a:ext cx="91440" cy="54864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1005840" y="53492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Motors + servos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3383280" y="53492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Real-time PWM outputs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492240" y="1828800"/>
            <a:ext cx="5120640" cy="429768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6492240" y="1828800"/>
            <a:ext cx="5120640" cy="502920"/>
          </a:xfrm>
          <a:prstGeom prst="rect">
            <a:avLst/>
          </a:prstGeom>
          <a:solidFill>
            <a:srgbClr val="0E7C95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6675120" y="187452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Onboard sensing (LSM6DSR)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766560" y="2468880"/>
            <a:ext cx="45720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6-axis LSM6DSR IMU connected through I²C communication.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Used for orientation and motion sensing through I²C communication.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Encoder feedback support for closed-loop velocity control expansion.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Camera footprint (OV2640) on board for future visual processing.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 LEDs + buzzer for fault signaling.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Sensing &amp; Wireless  •  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EXPERIMENTAL 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It works — and it's reliable.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95148" y="1828800"/>
            <a:ext cx="2697480" cy="201168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495148" y="1828800"/>
            <a:ext cx="2697480" cy="109728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586588" y="210312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5600"/>
              <a:buFont typeface="Arial Black"/>
              <a:buNone/>
            </a:pPr>
            <a:r>
              <a:rPr b="1" lang="en-US" sz="4800">
                <a:solidFill>
                  <a:srgbClr val="0E1F3D"/>
                </a:solidFill>
                <a:latin typeface="Arial Black"/>
                <a:ea typeface="Arial Black"/>
                <a:cs typeface="Arial Black"/>
                <a:sym typeface="Arial Black"/>
              </a:rPr>
              <a:t>Stable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678028" y="301752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Power rails remained operational during bring-up and testing.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3329788" y="1828800"/>
            <a:ext cx="2697480" cy="201168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3329788" y="1828800"/>
            <a:ext cx="2697480" cy="109728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3421228" y="210312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5600"/>
              <a:buFont typeface="Arial Black"/>
              <a:buNone/>
            </a:pPr>
            <a:r>
              <a:rPr b="1" lang="en-US" sz="4100">
                <a:solidFill>
                  <a:srgbClr val="0E1F3D"/>
                </a:solidFill>
                <a:latin typeface="Arial Black"/>
                <a:ea typeface="Arial Black"/>
                <a:cs typeface="Arial Black"/>
                <a:sym typeface="Arial Black"/>
              </a:rPr>
              <a:t>Reliable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3512668" y="301752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Stable Bluetooth communication during live demonstrations. 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6164428" y="1828800"/>
            <a:ext cx="2697480" cy="201168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6164428" y="1828800"/>
            <a:ext cx="2697480" cy="109728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6255868" y="210312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5600"/>
              <a:buFont typeface="Arial Black"/>
              <a:buNone/>
            </a:pPr>
            <a:r>
              <a:rPr b="1" i="0" lang="en-US" sz="5600" u="none" cap="none" strike="noStrike">
                <a:solidFill>
                  <a:srgbClr val="0E1F3D"/>
                </a:solidFill>
                <a:latin typeface="Arial Black"/>
                <a:ea typeface="Arial Black"/>
                <a:cs typeface="Arial Black"/>
                <a:sym typeface="Arial Black"/>
              </a:rPr>
              <a:t>≥1 hr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6347308" y="301752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Continuous operation on a 2S LiPo under mixed driving + manipulation.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8999068" y="1828800"/>
            <a:ext cx="2697480" cy="201168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8999068" y="1828800"/>
            <a:ext cx="2697480" cy="109728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9090508" y="210312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4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Verified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9181948" y="301752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Forward, lateral, and in-place Mecanum motion demonstrated.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48640" y="4114800"/>
            <a:ext cx="11155680" cy="201168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548640" y="4114800"/>
            <a:ext cx="11155680" cy="45720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731520" y="41605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Findings from system bring-up and demo runs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777240" y="4617720"/>
            <a:ext cx="10698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four power rails (7.4 V, 2× 5 V, 3.3 V) stable under dynamic load — no voltage droop after capacitor mitigation.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Arm responds correctly to joint-level commands; small steady-state error consistent with open-loop servo control.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Drive system reliably executes forward/reverse, lateral translation, and in-place rotation under operator control.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Encoder feedback evaluated for velocity stabilization; chassis heading remains open-loop.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Results  •  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 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COST 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Bill of Materials at single-unit volume.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9" name="Google Shape;359;p13"/>
          <p:cNvGraphicFramePr/>
          <p:nvPr/>
        </p:nvGraphicFramePr>
        <p:xfrm>
          <a:off x="54864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{78818ADB-91DB-4E66-96B1-6F9385A205FA}</a:tableStyleId>
              </a:tblPr>
              <a:tblGrid>
                <a:gridCol w="3291850"/>
                <a:gridCol w="731525"/>
                <a:gridCol w="1280150"/>
                <a:gridCol w="15544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(USD)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F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(USD)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F3D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STM32F429VET6 MCU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14.28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14.28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RT7258 Buck Converter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6.96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TB6612FNG Motor Driver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ESP32-WROOM-32 (BT bridge)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OV2640 Camera Module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LSM6DSR IMU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 DC Motors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15.96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LD-1501MG Servo (base)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20.47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20.47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LFD-218 Servo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LFD-01M Servos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20.97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Buzzer + LEDs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2S LiPo Battery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27.89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27.89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Connectors &amp; Passives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PCB Fabrication (4-layer)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F3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E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Estimated Single-Unit Total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F3D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E1F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USD 213.46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5F9"/>
                    </a:solidFill>
                  </a:tcPr>
                </a:tc>
              </a:tr>
            </a:tbl>
          </a:graphicData>
        </a:graphic>
      </p:graphicFrame>
      <p:sp>
        <p:nvSpPr>
          <p:cNvPr id="360" name="Google Shape;360;p13"/>
          <p:cNvSpPr/>
          <p:nvPr/>
        </p:nvSpPr>
        <p:spPr>
          <a:xfrm>
            <a:off x="7680960" y="1737360"/>
            <a:ext cx="4023360" cy="438912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7680960" y="1737360"/>
            <a:ext cx="4023360" cy="50292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7863840" y="17830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 narrative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7955280" y="2423160"/>
            <a:ext cx="34747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was &lt; $100 board-level — actual is $213 system-level (board + actuators + battery).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 PCB electronics alone are cost-effective — passives, MCU, drivers ≈ $30.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Dominant costs: actuators (servos), Bluetooth module, battery.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revisions could reduce cost through integrated regulators and alternative actuator selection.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Cost  • 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MILESTONES ACHIEVED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What's working, end-to-end.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640080" y="1856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1325880" y="1828800"/>
            <a:ext cx="10332720" cy="59436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1508760" y="190195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Mechanical chassis integrated with the custom 4-layer PCB.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640080" y="256946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1325880" y="2542032"/>
            <a:ext cx="10332720" cy="59436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1508760" y="2615184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Successful bring-up of the 7.4 V, dual 5 V, and 3.3 V power rails.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640080" y="3300984"/>
            <a:ext cx="502920" cy="50292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640080" y="32826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1325880" y="3255264"/>
            <a:ext cx="10332720" cy="59436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1508760" y="3328416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Mecanum drive controlled through Bluetooth command input.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640080" y="4014216"/>
            <a:ext cx="502920" cy="50292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640080" y="39959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1325880" y="3968496"/>
            <a:ext cx="10332720" cy="59436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4"/>
          <p:cNvSpPr/>
          <p:nvPr/>
        </p:nvSpPr>
        <p:spPr>
          <a:xfrm>
            <a:off x="1508760" y="4041648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Joint-level robotic-arm actuation across all 5 servos.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640080" y="4727448"/>
            <a:ext cx="502920" cy="50292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1325880" y="4681728"/>
            <a:ext cx="10332720" cy="59436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1508760" y="475488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Bluetooth communication between MIT App Inventor app and STM32 via ESP32 UART bridge.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640080" y="54223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1325880" y="5394960"/>
            <a:ext cx="10332720" cy="59436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"/>
          <p:cNvSpPr/>
          <p:nvPr/>
        </p:nvSpPr>
        <p:spPr>
          <a:xfrm>
            <a:off x="1508760" y="546811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Integrated system demonstration: drive + manipulate + onboard sensing.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Milestones  • 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REACH GOALS &amp; LESSONS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Where we pushed, what we learned.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548640" y="1828800"/>
            <a:ext cx="5669280" cy="4297680"/>
          </a:xfrm>
          <a:prstGeom prst="rect">
            <a:avLst/>
          </a:prstGeom>
          <a:solidFill>
            <a:srgbClr val="E6F5F9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548640" y="1828800"/>
            <a:ext cx="5669280" cy="50292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731520" y="18745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Reach goals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731520" y="2514600"/>
            <a:ext cx="5303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731520" y="2514600"/>
            <a:ext cx="91440" cy="1051560"/>
          </a:xfrm>
          <a:prstGeom prst="rect">
            <a:avLst/>
          </a:prstGeom>
          <a:solidFill>
            <a:srgbClr val="0E7C95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914400" y="26060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Wireless command path (mobile → STM32)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4892040" y="26060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914400" y="2971800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 Inventor commands received and executed correctly via ESP32 UART bridge.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731520" y="3703320"/>
            <a:ext cx="5303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731520" y="3703320"/>
            <a:ext cx="91440" cy="1051560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914400" y="37947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Closed-loop Mecanum drive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4892040" y="379476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B700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914400" y="4160520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Per-wheel PI velocity loop on encoders — long-trajectory heading still open-loop.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731520" y="4892040"/>
            <a:ext cx="5303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731520" y="4892040"/>
            <a:ext cx="91440" cy="1051560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914400" y="49834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Closed-loop arm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4892040" y="49834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B700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914400" y="5349240"/>
            <a:ext cx="5120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PWM positioning works; no joint-level feedback — full kinematic loop not implemented.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6492240" y="1828800"/>
            <a:ext cx="5120640" cy="429768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6492240" y="1828800"/>
            <a:ext cx="5120640" cy="502920"/>
          </a:xfrm>
          <a:prstGeom prst="rect">
            <a:avLst/>
          </a:prstGeom>
          <a:solidFill>
            <a:srgbClr val="0E7C95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6675120" y="187452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6766560" y="2514600"/>
            <a:ext cx="45720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Align the sensor suite with autonomy goals early — limited sensing reduced autonomous control capability.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Size bulk capacitance for worst-case servo transients, not nominal load.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Partition responsibilities cleanly between MCUs — ESP32 strictly bridge, STM32 owns real-time.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Schematic capture: verify every TX/RX, every power pin, every silkscreen label before fab.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Mitigations beat respins on a fixed timeline — but document everything for v2.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Reach Goals &amp; Lessons  • 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From classroom prototype to expanded real-world platform.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6"/>
          <p:cNvSpPr/>
          <p:nvPr/>
        </p:nvSpPr>
        <p:spPr>
          <a:xfrm>
            <a:off x="640080" y="1920240"/>
            <a:ext cx="2036003" cy="420624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640080" y="1920240"/>
            <a:ext cx="2036003" cy="5486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640080" y="1965960"/>
            <a:ext cx="20360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5B700"/>
                </a:solidFill>
                <a:latin typeface="Arial Black"/>
                <a:ea typeface="Arial Black"/>
                <a:cs typeface="Arial Black"/>
                <a:sym typeface="Arial Black"/>
              </a:rPr>
              <a:t>Now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777240" y="2651760"/>
            <a:ext cx="17616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v1 demo platform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777240" y="3291840"/>
            <a:ext cx="1761683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 PCB, Bluetooth-driven Mecanum + 5-DOF arm, full system demo on-bench.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2858963" y="1920240"/>
            <a:ext cx="2036003" cy="420624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2858963" y="1920240"/>
            <a:ext cx="2036003" cy="5486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2858963" y="1965960"/>
            <a:ext cx="20360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5B700"/>
                </a:solidFill>
                <a:latin typeface="Arial Black"/>
                <a:ea typeface="Arial Black"/>
                <a:cs typeface="Arial Black"/>
                <a:sym typeface="Arial Black"/>
              </a:rPr>
              <a:t>+3 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2996123" y="2651760"/>
            <a:ext cx="17616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v2 board respin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2996123" y="3291840"/>
            <a:ext cx="1761683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Trace widening, RT7258 thermal pads, consolidated power, documented errata fixed.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5077846" y="1920240"/>
            <a:ext cx="2036003" cy="420624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6"/>
          <p:cNvSpPr/>
          <p:nvPr/>
        </p:nvSpPr>
        <p:spPr>
          <a:xfrm>
            <a:off x="5077846" y="1920240"/>
            <a:ext cx="2036003" cy="5486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5077846" y="1965960"/>
            <a:ext cx="20360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5B700"/>
                </a:solidFill>
                <a:latin typeface="Arial Black"/>
                <a:ea typeface="Arial Black"/>
                <a:cs typeface="Arial Black"/>
                <a:sym typeface="Arial Black"/>
              </a:rPr>
              <a:t>+6 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5215006" y="2651760"/>
            <a:ext cx="17616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Closed-loop arm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5215006" y="3291840"/>
            <a:ext cx="1761683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Joint-level feedback, inverse kinematics integrated into firmware, Cartesian motion.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7296729" y="1920240"/>
            <a:ext cx="2036003" cy="420624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6"/>
          <p:cNvSpPr/>
          <p:nvPr/>
        </p:nvSpPr>
        <p:spPr>
          <a:xfrm>
            <a:off x="7296729" y="1920240"/>
            <a:ext cx="2036003" cy="5486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7296729" y="1965960"/>
            <a:ext cx="20360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5B700"/>
                </a:solidFill>
                <a:latin typeface="Arial Black"/>
                <a:ea typeface="Arial Black"/>
                <a:cs typeface="Arial Black"/>
                <a:sym typeface="Arial Black"/>
              </a:rPr>
              <a:t>+12 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7433889" y="2651760"/>
            <a:ext cx="17616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Prototype field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433889" y="3291840"/>
            <a:ext cx="1761683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Future ROS 2 integration, SLAM experimentation, and higher-level motion planning support.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9515612" y="1920240"/>
            <a:ext cx="2036003" cy="420624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9515612" y="1920240"/>
            <a:ext cx="2036003" cy="5486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9515612" y="1965960"/>
            <a:ext cx="20360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5B700"/>
                </a:solidFill>
                <a:latin typeface="Arial Black"/>
                <a:ea typeface="Arial Black"/>
                <a:cs typeface="Arial Black"/>
                <a:sym typeface="Arial Black"/>
              </a:rPr>
              <a:t>+18 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9652772" y="2651760"/>
            <a:ext cx="176168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Production-ready platform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9652772" y="3291840"/>
            <a:ext cx="1761683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Cost-down BoM (&lt;$150), enclosure design, regulatory + safety review.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Roadmap  • 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F3D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B700"/>
                </a:solidFill>
                <a:latin typeface="Calibri"/>
                <a:ea typeface="Calibri"/>
                <a:cs typeface="Calibri"/>
                <a:sym typeface="Calibri"/>
              </a:rPr>
              <a:t>WHY MECAARM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strengths of the MecaArm platform.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548640" y="146304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548640" y="1920240"/>
            <a:ext cx="3657600" cy="2286000"/>
          </a:xfrm>
          <a:prstGeom prst="rect">
            <a:avLst/>
          </a:prstGeom>
          <a:solidFill>
            <a:srgbClr val="1B2B4B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7"/>
          <p:cNvSpPr/>
          <p:nvPr/>
        </p:nvSpPr>
        <p:spPr>
          <a:xfrm>
            <a:off x="777240" y="21031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5B700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777240" y="27889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Validated hardware platform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777240" y="32461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Working system demoed end-to-end — drive, arm, comms, sensing — on a custom 4-layer PCB we designed.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4389120" y="1920240"/>
            <a:ext cx="3657600" cy="2286000"/>
          </a:xfrm>
          <a:prstGeom prst="rect">
            <a:avLst/>
          </a:prstGeom>
          <a:solidFill>
            <a:srgbClr val="1B2B4B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7"/>
          <p:cNvSpPr/>
          <p:nvPr/>
        </p:nvSpPr>
        <p:spPr>
          <a:xfrm>
            <a:off x="4617720" y="21031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5B700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4617720" y="27889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&amp; extensible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4617720" y="32461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 vendor lock-in. </a:t>
            </a: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Direct STM32 control of PWM outputs and encoder feedback support</a:t>
            </a: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flexible platform for future development.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8229600" y="1920240"/>
            <a:ext cx="3657600" cy="2286000"/>
          </a:xfrm>
          <a:prstGeom prst="rect">
            <a:avLst/>
          </a:prstGeom>
          <a:solidFill>
            <a:srgbClr val="1B2B4B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8458200" y="21031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5B700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8458200" y="27889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Disciplined engineering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8458200" y="32461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Issues found during bring-up, mitigated without a respin, fully documented for v2.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4297680" y="4416120"/>
            <a:ext cx="3657600" cy="2286000"/>
          </a:xfrm>
          <a:prstGeom prst="rect">
            <a:avLst/>
          </a:prstGeom>
          <a:solidFill>
            <a:srgbClr val="1B2B4B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4526280" y="4599000"/>
            <a:ext cx="118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5B700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4526280" y="5284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cost optimization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4526280" y="57420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$213 today; &lt;$150 BoM target with v2 board, consolidated regulators, and volume sourcing.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7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8168335" y="6547104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Project Strengths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 • 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8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8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Collaborative senior design team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548640" y="1417320"/>
            <a:ext cx="731520" cy="54864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8"/>
          <p:cNvSpPr/>
          <p:nvPr/>
        </p:nvSpPr>
        <p:spPr>
          <a:xfrm>
            <a:off x="495148" y="1828800"/>
            <a:ext cx="2697480" cy="36576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8"/>
          <p:cNvSpPr/>
          <p:nvPr/>
        </p:nvSpPr>
        <p:spPr>
          <a:xfrm>
            <a:off x="495148" y="1828800"/>
            <a:ext cx="2697480" cy="118872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8"/>
          <p:cNvSpPr/>
          <p:nvPr/>
        </p:nvSpPr>
        <p:spPr>
          <a:xfrm>
            <a:off x="1432408" y="2011680"/>
            <a:ext cx="822960" cy="82296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1432408" y="1993392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lang="en-US" sz="2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586588" y="310896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Inderpal</a:t>
            </a:r>
            <a:r>
              <a:rPr b="1" i="0" lang="en-US" sz="16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 Singh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586588" y="356616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PCB design &amp; power integrity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678028" y="4160520"/>
            <a:ext cx="2331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Schematic capture, PCB layout, RT7258 power tree,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decoupling strategy, and hardware bring-up support.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3329788" y="1828800"/>
            <a:ext cx="2697480" cy="36576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3329788" y="1828800"/>
            <a:ext cx="2697480" cy="118872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8"/>
          <p:cNvSpPr/>
          <p:nvPr/>
        </p:nvSpPr>
        <p:spPr>
          <a:xfrm>
            <a:off x="4267048" y="2011680"/>
            <a:ext cx="822960" cy="82296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8"/>
          <p:cNvSpPr/>
          <p:nvPr/>
        </p:nvSpPr>
        <p:spPr>
          <a:xfrm>
            <a:off x="4267048" y="1993392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lang="en-US" sz="2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FF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3421228" y="310896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Feranmi Falodun</a:t>
            </a:r>
            <a:endParaRPr b="1" sz="1600">
              <a:solidFill>
                <a:srgbClr val="0E1F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3421228" y="356616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Mobile UI &amp; software integration</a:t>
            </a:r>
            <a:endParaRPr i="1" sz="1200">
              <a:solidFill>
                <a:srgbClr val="0E7C9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3512668" y="4160520"/>
            <a:ext cx="2331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MIT App Inventor application,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command protocol integration,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demo orchestration, and software coordination.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6164428" y="1828800"/>
            <a:ext cx="2697480" cy="36576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8"/>
          <p:cNvSpPr/>
          <p:nvPr/>
        </p:nvSpPr>
        <p:spPr>
          <a:xfrm>
            <a:off x="6164428" y="1828800"/>
            <a:ext cx="2697480" cy="118872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8"/>
          <p:cNvSpPr/>
          <p:nvPr/>
        </p:nvSpPr>
        <p:spPr>
          <a:xfrm>
            <a:off x="7101688" y="2011680"/>
            <a:ext cx="822960" cy="82296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8"/>
          <p:cNvSpPr/>
          <p:nvPr/>
        </p:nvSpPr>
        <p:spPr>
          <a:xfrm>
            <a:off x="7101688" y="1993392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lang="en-US" sz="2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6255868" y="310896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Sukhpinder Singh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6255868" y="356616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Embedded control &amp; system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6347308" y="4160520"/>
            <a:ext cx="2331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STM32 integration, DC motor control,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UART communication, IMU integration,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 testing, and mecanum-drive integration.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8999068" y="1828800"/>
            <a:ext cx="2697480" cy="36576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8"/>
          <p:cNvSpPr/>
          <p:nvPr/>
        </p:nvSpPr>
        <p:spPr>
          <a:xfrm>
            <a:off x="8999068" y="1828800"/>
            <a:ext cx="2697480" cy="118872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8"/>
          <p:cNvSpPr/>
          <p:nvPr/>
        </p:nvSpPr>
        <p:spPr>
          <a:xfrm>
            <a:off x="9936328" y="2011680"/>
            <a:ext cx="822960" cy="822960"/>
          </a:xfrm>
          <a:prstGeom prst="ellipse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8"/>
          <p:cNvSpPr/>
          <p:nvPr/>
        </p:nvSpPr>
        <p:spPr>
          <a:xfrm>
            <a:off x="9936328" y="1993392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PJ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9090508" y="310896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E1F3D"/>
                </a:solidFill>
                <a:latin typeface="Calibri"/>
                <a:ea typeface="Calibri"/>
                <a:cs typeface="Calibri"/>
                <a:sym typeface="Calibri"/>
              </a:rPr>
              <a:t>Pierreline Jacob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9090508" y="356616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95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E7C95"/>
                </a:solidFill>
                <a:latin typeface="Calibri"/>
                <a:ea typeface="Calibri"/>
                <a:cs typeface="Calibri"/>
                <a:sym typeface="Calibri"/>
              </a:rPr>
              <a:t>Servo integration &amp; mechanical assembly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9181948" y="4160520"/>
            <a:ext cx="2331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Servo mounting, arm assembly support,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joint-level motion testing, and mechanical integration.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Advised by the CSU East Bay Department of Engineering — CMPE 493 Senior Design Capstone, Spring 2026.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F3D"/>
          </a:solidFill>
          <a:ln cap="flat" cmpd="sng" w="12700">
            <a:solidFill>
              <a:srgbClr val="0E1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8"/>
          <p:cNvSpPr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MecaArm  •  Senior Design Capstone,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8168335" y="65471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Team  • 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F3D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9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ADCF"/>
          </a:solidFill>
          <a:ln cap="flat" cmpd="sng" w="12700">
            <a:solidFill>
              <a:srgbClr val="1BAD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9"/>
          <p:cNvSpPr/>
          <p:nvPr/>
        </p:nvSpPr>
        <p:spPr>
          <a:xfrm>
            <a:off x="548640" y="1463040"/>
            <a:ext cx="164592" cy="1097280"/>
          </a:xfrm>
          <a:prstGeom prst="rect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9"/>
          <p:cNvSpPr/>
          <p:nvPr/>
        </p:nvSpPr>
        <p:spPr>
          <a:xfrm>
            <a:off x="868680" y="137160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 Black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you.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868680" y="26060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Questions, demos, and next steps.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868680" y="3474720"/>
            <a:ext cx="10424160" cy="2286000"/>
          </a:xfrm>
          <a:prstGeom prst="rect">
            <a:avLst/>
          </a:prstGeom>
          <a:solidFill>
            <a:srgbClr val="1B2B4B"/>
          </a:solidFill>
          <a:ln cap="flat" cmpd="sng" w="12700">
            <a:solidFill>
              <a:srgbClr val="0E7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9"/>
          <p:cNvSpPr/>
          <p:nvPr/>
        </p:nvSpPr>
        <p:spPr>
          <a:xfrm>
            <a:off x="1051560" y="36118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7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B700"/>
                </a:solidFill>
                <a:latin typeface="Calibri"/>
                <a:ea typeface="Calibri"/>
                <a:cs typeface="Calibri"/>
                <a:sym typeface="Calibri"/>
              </a:rPr>
              <a:t>Get in touch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1051560" y="40690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Sukhpinder Singh   •   Inderpal Singh   •   Feranmi Falodun   •   Pierreline Jacob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1051560" y="4434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California State University, East Bay  •  Department of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1051560" y="4800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CMPE 493 Senior Design Capstone — Spring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1051560" y="5166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Senior Design Final Presentation, May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